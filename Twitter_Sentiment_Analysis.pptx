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D3A"/>
                </a:solidFill>
                <a:latin typeface="Arial"/>
              </a:defRPr>
            </a:pPr>
            <a:r>
              <a:rPr lang="en-GB" sz="1300" b="0" i="0" u="none" strike="noStrike">
                <a:solidFill>
                  <a:srgbClr val="0B1D3A"/>
                </a:solidFill>
                <a:latin typeface="Arial"/>
              </a:rPr>
              <a:t>Accuracy Comparison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E90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0C9-48A7-9FAE-3F935685BF4A}"/>
              </c:ext>
            </c:extLst>
          </c:dPt>
          <c:dPt>
            <c:idx val="1"/>
            <c:invertIfNegative val="0"/>
            <c:bubble3D val="0"/>
            <c:spPr>
              <a:solidFill>
                <a:srgbClr val="00C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0C9-48A7-9FAE-3F935685BF4A}"/>
              </c:ext>
            </c:extLst>
          </c:dPt>
          <c:dPt>
            <c:idx val="2"/>
            <c:invertIfNegative val="0"/>
            <c:bubble3D val="0"/>
            <c:spPr>
              <a:solidFill>
                <a:srgbClr val="FF4F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0C9-48A7-9FAE-3F935685BF4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B1D3A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Reg.</c:v>
                </c:pt>
                <c:pt idx="1">
                  <c:v>Naive Bayes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79.89</c:v>
                </c:pt>
                <c:pt idx="1">
                  <c:v>77.540000000000006</c:v>
                </c:pt>
                <c:pt idx="2">
                  <c:v>58.55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0C9-48A7-9FAE-3F935685BF4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FFFFFF"/>
                </a:solidFill>
                <a:latin typeface="Arial"/>
              </a:rPr>
              <a:t>AUC-ROC Score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1E90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B55-477C-A8AE-8C4EF5CF8F8E}"/>
              </c:ext>
            </c:extLst>
          </c:dPt>
          <c:dPt>
            <c:idx val="1"/>
            <c:invertIfNegative val="0"/>
            <c:bubble3D val="0"/>
            <c:spPr>
              <a:solidFill>
                <a:srgbClr val="00C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B55-477C-A8AE-8C4EF5CF8F8E}"/>
              </c:ext>
            </c:extLst>
          </c:dPt>
          <c:dPt>
            <c:idx val="2"/>
            <c:invertIfNegative val="0"/>
            <c:bubble3D val="0"/>
            <c:spPr>
              <a:solidFill>
                <a:srgbClr val="FF4F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B55-477C-A8AE-8C4EF5CF8F8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Reg.</c:v>
                </c:pt>
                <c:pt idx="1">
                  <c:v>Naive Bayes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0.87760000000000005</c:v>
                </c:pt>
                <c:pt idx="1">
                  <c:v>0.84799999999999998</c:v>
                </c:pt>
                <c:pt idx="2">
                  <c:v>0.60680000000000001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B55-477C-A8AE-8C4EF5CF8F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2A5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FFFFFF"/>
                </a:solidFill>
                <a:latin typeface="Arial"/>
              </a:rPr>
              <a:t>F1-Score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1E90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0C4-46CF-AB11-C7B3BFB98026}"/>
              </c:ext>
            </c:extLst>
          </c:dPt>
          <c:dPt>
            <c:idx val="1"/>
            <c:invertIfNegative val="0"/>
            <c:bubble3D val="0"/>
            <c:spPr>
              <a:solidFill>
                <a:srgbClr val="00C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0C4-46CF-AB11-C7B3BFB98026}"/>
              </c:ext>
            </c:extLst>
          </c:dPt>
          <c:dPt>
            <c:idx val="2"/>
            <c:invertIfNegative val="0"/>
            <c:bubble3D val="0"/>
            <c:spPr>
              <a:solidFill>
                <a:srgbClr val="FF4F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0C4-46CF-AB11-C7B3BFB9802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Reg.</c:v>
                </c:pt>
                <c:pt idx="1">
                  <c:v>Naive Bayes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0.79569999999999996</c:v>
                </c:pt>
                <c:pt idx="1">
                  <c:v>0.77590000000000003</c:v>
                </c:pt>
                <c:pt idx="2">
                  <c:v>0.53310000000000002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0C4-46CF-AB11-C7B3BFB980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2A5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D3A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0B1D3A"/>
                </a:solidFill>
                <a:latin typeface="Arial"/>
              </a:rPr>
              <a:t>Sentiment Distribution (Balanced)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9BD-4B6B-8222-5A12C4BB76BE}"/>
              </c:ext>
            </c:extLst>
          </c:dPt>
          <c:dPt>
            <c:idx val="1"/>
            <c:bubble3D val="0"/>
            <c:spPr>
              <a:solidFill>
                <a:srgbClr val="FF4F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9BD-4B6B-8222-5A12C4BB76B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PK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9BD-4B6B-8222-5A12C4BB76B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PK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9BD-4B6B-8222-5A12C4BB76B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PK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Positive Tweets</c:v>
                </c:pt>
                <c:pt idx="1">
                  <c:v>Negative Tweets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9BD-4B6B-8222-5A12C4BB76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1D3A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0B1D3A"/>
                </a:solidFill>
                <a:latin typeface="Arial"/>
              </a:rPr>
              <a:t>Model Confidence Score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Tweet Count</c:v>
                </c:pt>
              </c:strCache>
            </c:strRef>
          </c:tx>
          <c:spPr>
            <a:solidFill>
              <a:srgbClr val="1E90F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50-60%</c:v>
                </c:pt>
                <c:pt idx="1">
                  <c:v>60-70%</c:v>
                </c:pt>
                <c:pt idx="2">
                  <c:v>70-80%</c:v>
                </c:pt>
                <c:pt idx="3">
                  <c:v>80-90%</c:v>
                </c:pt>
                <c:pt idx="4">
                  <c:v>90-100%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15</c:v>
                </c:pt>
                <c:pt idx="2">
                  <c:v>22</c:v>
                </c:pt>
                <c:pt idx="3">
                  <c:v>30</c:v>
                </c:pt>
                <c:pt idx="4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78-4A40-80FE-6DB4A2D0B4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0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concept of sentiment analysis and why Twitter is an ideal data source. Mention the scale of Twitter data and the need for distributed 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why this project is needed: the sheer scale of Twitter data and the limitations of traditional systems. Apache Spark solves the scale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preprocessing step. Show how raw noisy tweets become clean text suitable for ML. PySpark regexp_replace is used for all cleaning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Spark ML Pipeline chains all preprocessing and modeling stages. This makes it easy to reproduce, tune, and deploy. All stages are fitted once on training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finding: Logistic Regression significantly outperforms Random Forest on text classification. This is expected — linear models handle high-dimensional sparse TF-IDF vectors very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Summarize: what was built, what was achieved, what was learned. Emphasize that Apache Spark successfully scaled to 1.6M tweets and that Logistic Regression was the best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chart" Target="../charts/chart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0F2A50"/>
          </a:solidFill>
          <a:ln w="12700">
            <a:solidFill>
              <a:srgbClr val="0F2A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3200400"/>
            <a:ext cx="2011680" cy="1943100"/>
          </a:xfrm>
          <a:prstGeom prst="rect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74320"/>
            <a:ext cx="1463040" cy="14630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828800"/>
            <a:ext cx="1280160" cy="1280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65760" y="45720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1E90FF">
              <a:alpha val="70000"/>
            </a:srgbClr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457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0C8FF"/>
                </a:solidFill>
              </a:rPr>
              <a:t>Semester PROJECT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65760" y="8686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Twitter Sentiment Analysis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365760" y="160020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C8FF"/>
                </a:solidFill>
              </a:rPr>
              <a:t>Using Apache Spark, Kafka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0C8FF"/>
                </a:solidFill>
              </a:rPr>
              <a:t>&amp; Machine Learning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365760" y="2606040"/>
            <a:ext cx="502920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78397" y="2984684"/>
            <a:ext cx="1371600" cy="595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C9E"/>
                </a:solidFill>
              </a:rPr>
              <a:t>Group Members::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947672" y="2898648"/>
            <a:ext cx="4879570" cy="883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Muhammad Yahya                     L1F23BSDS0019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Muhammad Zeeshan                 L1F23BSDS0023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Syed Muhammad Minhal          L1F23BSDS0007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01752" y="323240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C9E"/>
                </a:solidFill>
              </a:rPr>
              <a:t>: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645920" y="319125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18299" y="4049129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C9E"/>
                </a:solidFill>
              </a:rPr>
              <a:t>Supervisor: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950998" y="4049129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Dr. Rabbia Alamdar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65760" y="39959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673352" y="402003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65760" y="46634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7C9E"/>
                </a:solidFill>
              </a:rPr>
              <a:t>Python  •  PySpark 3.5  •  Apache Kafka  •  Google Colab  •  ML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Presentation 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713232"/>
          </a:xfrm>
          <a:prstGeom prst="rect">
            <a:avLst/>
          </a:prstGeom>
          <a:solidFill>
            <a:srgbClr val="0F2A50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90FF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51560" y="1325880"/>
            <a:ext cx="27432" cy="43891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18872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Introduction &amp; Problem Statement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39112"/>
            <a:ext cx="4023360" cy="713232"/>
          </a:xfrm>
          <a:prstGeom prst="rect">
            <a:avLst/>
          </a:prstGeom>
          <a:solidFill>
            <a:srgbClr val="0F2A50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039112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90FF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51560" y="2176272"/>
            <a:ext cx="27432" cy="43891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039112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System Architecture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89504"/>
            <a:ext cx="4023360" cy="713232"/>
          </a:xfrm>
          <a:prstGeom prst="rect">
            <a:avLst/>
          </a:prstGeom>
          <a:solidFill>
            <a:srgbClr val="0F2A50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889504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90FF"/>
                </a:solidFill>
              </a:rPr>
              <a:t>03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051560" y="3026664"/>
            <a:ext cx="27432" cy="43891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2889504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Dataset &amp; Preprocessing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39896"/>
            <a:ext cx="4023360" cy="713232"/>
          </a:xfrm>
          <a:prstGeom prst="rect">
            <a:avLst/>
          </a:prstGeom>
          <a:solidFill>
            <a:srgbClr val="0F2A50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739896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90FF"/>
                </a:solidFill>
              </a:rPr>
              <a:t>04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051560" y="3877056"/>
            <a:ext cx="27432" cy="43891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3739896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Feature Engineering &amp; ML Pipeline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188720"/>
            <a:ext cx="4023360" cy="713232"/>
          </a:xfrm>
          <a:prstGeom prst="rect">
            <a:avLst/>
          </a:prstGeom>
          <a:solidFill>
            <a:srgbClr val="0F2A50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118872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90FF"/>
                </a:solidFill>
              </a:rPr>
              <a:t>05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440680" y="1325880"/>
            <a:ext cx="27432" cy="43891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118872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Results &amp; Model Comparison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2039112"/>
            <a:ext cx="4023360" cy="713232"/>
          </a:xfrm>
          <a:prstGeom prst="rect">
            <a:avLst/>
          </a:prstGeom>
          <a:solidFill>
            <a:srgbClr val="0F2A50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37760" y="2039112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90FF"/>
                </a:solidFill>
              </a:rPr>
              <a:t>06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5440680" y="2176272"/>
            <a:ext cx="27432" cy="43891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32120" y="2039112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Kafka Integration &amp; Future Work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2889504"/>
            <a:ext cx="4023360" cy="713232"/>
          </a:xfrm>
          <a:prstGeom prst="rect">
            <a:avLst/>
          </a:prstGeom>
          <a:solidFill>
            <a:srgbClr val="0F2A50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37760" y="2889504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90FF"/>
                </a:solidFill>
              </a:rPr>
              <a:t>07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5440680" y="3026664"/>
            <a:ext cx="27432" cy="43891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2120" y="2889504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D3A"/>
                </a:solidFill>
              </a:rPr>
              <a:t>What is Sentiment Analysis?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972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097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D3A"/>
                </a:solidFill>
              </a:rPr>
              <a:t>Sentiment Analysis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15544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C9E"/>
                </a:solidFill>
              </a:rPr>
              <a:t>The computational process of identifying and categorizing opinions in text, determining whether the writer's attitude is positive, negative, or neutral.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92040" y="1005840"/>
            <a:ext cx="3749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17043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50408" y="1097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Brand Monitoring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550408" y="1417320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E"/>
                </a:solidFill>
              </a:rPr>
              <a:t>Track brand perception in real-time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892040" y="1993392"/>
            <a:ext cx="3749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157984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50408" y="20848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Market Research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550408" y="2404872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E"/>
                </a:solidFill>
              </a:rPr>
              <a:t>Understand customer opinions at scale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892040" y="2980944"/>
            <a:ext cx="3749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145536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50408" y="307238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Political Analysis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550408" y="3392424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E"/>
                </a:solidFill>
              </a:rPr>
              <a:t>Gauge public opinion on policies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892040" y="3968496"/>
            <a:ext cx="3749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4133088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550408" y="40599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Crisis Detection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550408" y="4379976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E"/>
                </a:solidFill>
              </a:rPr>
              <a:t>Detect negative trending topics early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457200" y="2788920"/>
            <a:ext cx="4114800" cy="914400"/>
          </a:xfrm>
          <a:prstGeom prst="rect">
            <a:avLst/>
          </a:prstGeom>
          <a:solidFill>
            <a:srgbClr val="0B1D3A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2880360"/>
            <a:ext cx="548640" cy="5486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23444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FF"/>
                </a:solidFill>
              </a:rPr>
              <a:t>500M+ tweets/day</a:t>
            </a:r>
            <a:endParaRPr lang="en-US" sz="2000" dirty="0"/>
          </a:p>
        </p:txBody>
      </p:sp>
      <p:sp>
        <p:nvSpPr>
          <p:cNvPr id="28" name="Text 20"/>
          <p:cNvSpPr/>
          <p:nvPr/>
        </p:nvSpPr>
        <p:spPr>
          <a:xfrm>
            <a:off x="1234440" y="3246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E"/>
                </a:solidFill>
              </a:rPr>
              <a:t>Twitter generates massive real-time public opinion data — perfect for sentiment analysis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Challenges We Address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1417320"/>
          </a:xfrm>
          <a:prstGeom prst="rect">
            <a:avLst/>
          </a:prstGeom>
          <a:solidFill>
            <a:srgbClr val="132440"/>
          </a:solidFill>
          <a:ln w="1270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29844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29844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Massive Scale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" y="1755648"/>
            <a:ext cx="2432304" cy="1828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" y="1847088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C9E"/>
                </a:solidFill>
              </a:rPr>
              <a:t>1.6M+ tweets — traditional systems struggle with this volume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1188720"/>
            <a:ext cx="2651760" cy="1417320"/>
          </a:xfrm>
          <a:prstGeom prst="rect">
            <a:avLst/>
          </a:prstGeom>
          <a:solidFill>
            <a:srgbClr val="132440"/>
          </a:solidFill>
          <a:ln w="1270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29844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94760" y="129844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Processing Speed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310128" y="1755648"/>
            <a:ext cx="2432304" cy="1828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310128" y="1847088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C9E"/>
                </a:solidFill>
              </a:rPr>
              <a:t>Real-time analysis requires low-latency distributed computation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35040" y="1188720"/>
            <a:ext cx="2651760" cy="1417320"/>
          </a:xfrm>
          <a:prstGeom prst="rect">
            <a:avLst/>
          </a:prstGeom>
          <a:solidFill>
            <a:srgbClr val="132440"/>
          </a:solidFill>
          <a:ln w="1270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1298448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29400" y="129844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NLP Complexity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44768" y="1755648"/>
            <a:ext cx="2432304" cy="1828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144768" y="1847088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C9E"/>
                </a:solidFill>
              </a:rPr>
              <a:t>Tweets contain noise: slang, hashtags, URLs, abbreviations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65760" y="2788920"/>
            <a:ext cx="2651760" cy="1417320"/>
          </a:xfrm>
          <a:prstGeom prst="rect">
            <a:avLst/>
          </a:prstGeom>
          <a:solidFill>
            <a:srgbClr val="132440"/>
          </a:solidFill>
          <a:ln w="1270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2898648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0120" y="289864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Streaming Data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75488" y="3355848"/>
            <a:ext cx="2432304" cy="1828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75488" y="3447288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C9E"/>
                </a:solidFill>
              </a:rPr>
              <a:t>Twitter data flows continuously — batch-only systems can't keep up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200400" y="2788920"/>
            <a:ext cx="2651760" cy="1417320"/>
          </a:xfrm>
          <a:prstGeom prst="rect">
            <a:avLst/>
          </a:prstGeom>
          <a:solidFill>
            <a:srgbClr val="132440"/>
          </a:solidFill>
          <a:ln w="1270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28" y="2898648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94760" y="289864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Accuracy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3310128" y="3355848"/>
            <a:ext cx="2432304" cy="1828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3310128" y="3447288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C9E"/>
                </a:solidFill>
              </a:rPr>
              <a:t>Balancing accuracy vs. scalability in ML classification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035040" y="2788920"/>
            <a:ext cx="2651760" cy="1417320"/>
          </a:xfrm>
          <a:prstGeom prst="rect">
            <a:avLst/>
          </a:prstGeom>
          <a:solidFill>
            <a:srgbClr val="132440"/>
          </a:solidFill>
          <a:ln w="1270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4768" y="2898648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29400" y="289864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Infrastructure Cost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6144768" y="3355848"/>
            <a:ext cx="2432304" cy="1828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6144768" y="3447288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C9E"/>
                </a:solidFill>
              </a:rPr>
              <a:t>Distributed systems require careful resource optimization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OBJECTIVES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D3A"/>
                </a:solidFill>
              </a:rPr>
              <a:t>Project 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502920" cy="109728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90FF"/>
                </a:solidFill>
              </a:rPr>
              <a:t>01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252728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2344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Build Sentiment Classifier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170992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E"/>
                </a:solidFill>
              </a:rPr>
              <a:t>Design and implement a scalable ML pipeline to classify tweets as positive or negative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14300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143000"/>
            <a:ext cx="502920" cy="109728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0" y="114300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90FF"/>
                </a:solidFill>
              </a:rPr>
              <a:t>02</a:t>
            </a:r>
            <a:endParaRPr lang="en-US" sz="16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1252728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52160" y="12344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Process 1.6M+ Tweets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349240" y="170992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E"/>
                </a:solidFill>
              </a:rPr>
              <a:t>Handle the full Sentiment140 dataset using Apache Spark distributed computing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37744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2377440"/>
            <a:ext cx="502920" cy="109728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5760" y="237744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90FF"/>
                </a:solidFill>
              </a:rPr>
              <a:t>03</a:t>
            </a:r>
            <a:endParaRPr lang="en-US" sz="16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2487168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24688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Compare ML Models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960120" y="29443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E"/>
                </a:solidFill>
              </a:rPr>
              <a:t>Evaluate Logistic Regression, Naive Bayes, and Random Forest on accuracy, F1, AUC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754880" y="237744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54880" y="2377440"/>
            <a:ext cx="502920" cy="109728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754880" y="237744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90FF"/>
                </a:solidFill>
              </a:rPr>
              <a:t>04</a:t>
            </a:r>
            <a:endParaRPr lang="en-US" sz="16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2487168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852160" y="24688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Leverage Apache Spark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349240" y="29443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E"/>
                </a:solidFill>
              </a:rPr>
              <a:t>Achieve scalability with PySpark 3.5 for distributed data processing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65760" y="361188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65760" y="3611880"/>
            <a:ext cx="502920" cy="109728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65760" y="361188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90FF"/>
                </a:solidFill>
              </a:rPr>
              <a:t>05</a:t>
            </a:r>
            <a:endParaRPr lang="en-US" sz="16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3721608"/>
            <a:ext cx="411480" cy="4114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463040" y="37033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Kafka Streaming Integration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960120" y="41788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E"/>
                </a:solidFill>
              </a:rPr>
              <a:t>Demonstrate real-time tweet streaming using Apache Kafka producer/consumer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4754880" y="361188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4754880" y="3611880"/>
            <a:ext cx="502920" cy="109728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4754880" y="361188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90FF"/>
                </a:solidFill>
              </a:rPr>
              <a:t>06</a:t>
            </a:r>
            <a:endParaRPr lang="en-US" sz="16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9240" y="3721608"/>
            <a:ext cx="411480" cy="41148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852160" y="37033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Visualize &amp; Analyze Results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5349240" y="41788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E"/>
                </a:solidFill>
              </a:rPr>
              <a:t>Generate WordClouds, model comparison charts, and live accuracy metrics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Technologies Used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1554480"/>
          </a:xfrm>
          <a:prstGeom prst="rect">
            <a:avLst/>
          </a:prstGeom>
          <a:solidFill>
            <a:srgbClr val="1A3A6A"/>
          </a:solidFill>
          <a:ln w="1270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3258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9659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Python 3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3042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9E"/>
                </a:solidFill>
              </a:rPr>
              <a:t>Core language for ML and data processing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1188720"/>
            <a:ext cx="2651760" cy="1554480"/>
          </a:xfrm>
          <a:prstGeom prst="rect">
            <a:avLst/>
          </a:prstGeom>
          <a:solidFill>
            <a:srgbClr val="1A2A5E"/>
          </a:solidFill>
          <a:ln w="1270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32588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0" y="19659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PySpark 3.5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291840" y="23042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9E"/>
                </a:solidFill>
              </a:rPr>
              <a:t>Distributed data processing engine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035040" y="1188720"/>
            <a:ext cx="2651760" cy="1554480"/>
          </a:xfrm>
          <a:prstGeom prst="rect">
            <a:avLst/>
          </a:prstGeom>
          <a:solidFill>
            <a:srgbClr val="1A3A6A"/>
          </a:solidFill>
          <a:ln w="1270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32588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35040" y="19659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Apache Kafka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126480" y="23042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9E"/>
                </a:solidFill>
              </a:rPr>
              <a:t>Real-time data streaming platform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65760" y="2926080"/>
            <a:ext cx="2651760" cy="1554480"/>
          </a:xfrm>
          <a:prstGeom prst="rect">
            <a:avLst/>
          </a:prstGeom>
          <a:solidFill>
            <a:srgbClr val="1A2A5E"/>
          </a:solidFill>
          <a:ln w="1270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7320" y="306324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65760" y="3703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Spark MLlib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57200" y="40416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9E"/>
                </a:solidFill>
              </a:rPr>
              <a:t>Scalable machine learning library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200400" y="2926080"/>
            <a:ext cx="2651760" cy="1554480"/>
          </a:xfrm>
          <a:prstGeom prst="rect">
            <a:avLst/>
          </a:prstGeom>
          <a:solidFill>
            <a:srgbClr val="1A3A6A"/>
          </a:solidFill>
          <a:ln w="1270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1960" y="3063240"/>
            <a:ext cx="548640" cy="5486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200400" y="3703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Sentiment140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3291840" y="40416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9E"/>
                </a:solidFill>
              </a:rPr>
              <a:t>1.6M labeled tweet dataset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035040" y="2926080"/>
            <a:ext cx="2651760" cy="1554480"/>
          </a:xfrm>
          <a:prstGeom prst="rect">
            <a:avLst/>
          </a:prstGeom>
          <a:solidFill>
            <a:srgbClr val="1A2A5E"/>
          </a:solidFill>
          <a:ln w="1270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3063240"/>
            <a:ext cx="548640" cy="5486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035040" y="3703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Google Colab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6126480" y="40416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9E"/>
                </a:solidFill>
              </a:rPr>
              <a:t>Cloud-based development environment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365760" y="4663440"/>
            <a:ext cx="1920240" cy="347472"/>
          </a:xfrm>
          <a:prstGeom prst="roundRect">
            <a:avLst>
              <a:gd name="adj" fmla="val 26316"/>
            </a:avLst>
          </a:prstGeom>
          <a:solidFill>
            <a:srgbClr val="1E90FF">
              <a:alpha val="80000"/>
            </a:srgbClr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365760" y="4663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Logistic Regression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2468880" y="4663440"/>
            <a:ext cx="1920240" cy="347472"/>
          </a:xfrm>
          <a:prstGeom prst="roundRect">
            <a:avLst>
              <a:gd name="adj" fmla="val 26316"/>
            </a:avLst>
          </a:prstGeom>
          <a:solidFill>
            <a:srgbClr val="1E90FF">
              <a:alpha val="80000"/>
            </a:srgbClr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2468880" y="4663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Naive Bayes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4572000" y="4663440"/>
            <a:ext cx="1920240" cy="347472"/>
          </a:xfrm>
          <a:prstGeom prst="roundRect">
            <a:avLst>
              <a:gd name="adj" fmla="val 26316"/>
            </a:avLst>
          </a:prstGeom>
          <a:solidFill>
            <a:srgbClr val="1E90FF">
              <a:alpha val="80000"/>
            </a:srgbClr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4572000" y="4663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Random Forest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6675120" y="4663440"/>
            <a:ext cx="1920240" cy="347472"/>
          </a:xfrm>
          <a:prstGeom prst="roundRect">
            <a:avLst>
              <a:gd name="adj" fmla="val 26316"/>
            </a:avLst>
          </a:prstGeom>
          <a:solidFill>
            <a:srgbClr val="1E90FF">
              <a:alpha val="80000"/>
            </a:srgbClr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6675120" y="4663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TF-IDF Vectorizer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D3A"/>
                </a:solidFill>
              </a:rPr>
              <a:t>System Architecture &amp;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1417320" cy="2560320"/>
          </a:xfrm>
          <a:prstGeom prst="rect">
            <a:avLst/>
          </a:prstGeom>
          <a:solidFill>
            <a:srgbClr val="0B1D3A"/>
          </a:solidFill>
          <a:ln w="1905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536192"/>
            <a:ext cx="502920" cy="502920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4884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78892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Dataset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42900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9E"/>
                </a:solidFill>
              </a:rPr>
              <a:t>Sentiment140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C9E"/>
                </a:solidFill>
              </a:rPr>
              <a:t>1.6M tweets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883664" y="2560320"/>
            <a:ext cx="201168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48256" y="2468880"/>
            <a:ext cx="91440" cy="21945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76272" y="1371600"/>
            <a:ext cx="1417320" cy="2560320"/>
          </a:xfrm>
          <a:prstGeom prst="rect">
            <a:avLst/>
          </a:prstGeom>
          <a:solidFill>
            <a:srgbClr val="0B1D3A"/>
          </a:solidFill>
          <a:ln w="1905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633472" y="1536192"/>
            <a:ext cx="502920" cy="502920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33472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472" y="214884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221992" y="278892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Preprocessing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221992" y="342900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9E"/>
                </a:solidFill>
              </a:rPr>
              <a:t>Clean text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C9E"/>
                </a:solidFill>
              </a:rPr>
              <a:t>Remove noise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648456" y="2560320"/>
            <a:ext cx="201168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813048" y="2468880"/>
            <a:ext cx="91440" cy="21945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941064" y="1371600"/>
            <a:ext cx="1417320" cy="2560320"/>
          </a:xfrm>
          <a:prstGeom prst="rect">
            <a:avLst/>
          </a:prstGeom>
          <a:solidFill>
            <a:srgbClr val="0B1D3A"/>
          </a:solidFill>
          <a:ln w="1905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398264" y="1536192"/>
            <a:ext cx="502920" cy="502920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398264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8264" y="2148840"/>
            <a:ext cx="502920" cy="5029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986784" y="278892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Engineering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3986784" y="342900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9E"/>
                </a:solidFill>
              </a:rPr>
              <a:t>Tokenize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C9E"/>
                </a:solidFill>
              </a:rPr>
              <a:t>TF-IDF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5413248" y="2560320"/>
            <a:ext cx="201168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577840" y="2468880"/>
            <a:ext cx="91440" cy="21945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705856" y="1371600"/>
            <a:ext cx="1417320" cy="2560320"/>
          </a:xfrm>
          <a:prstGeom prst="rect">
            <a:avLst/>
          </a:prstGeom>
          <a:solidFill>
            <a:srgbClr val="0B1D3A"/>
          </a:solidFill>
          <a:ln w="1905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163056" y="1536192"/>
            <a:ext cx="502920" cy="502920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163056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3056" y="2148840"/>
            <a:ext cx="502920" cy="5029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751576" y="278892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Pipeline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5751576" y="342900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9E"/>
                </a:solidFill>
              </a:rPr>
              <a:t>Train models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C9E"/>
                </a:solidFill>
              </a:rPr>
              <a:t>Spark MLlib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7178040" y="2560320"/>
            <a:ext cx="201168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7342632" y="2468880"/>
            <a:ext cx="91440" cy="21945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7470648" y="1371600"/>
            <a:ext cx="1417320" cy="2560320"/>
          </a:xfrm>
          <a:prstGeom prst="rect">
            <a:avLst/>
          </a:prstGeom>
          <a:solidFill>
            <a:srgbClr val="0B1D3A"/>
          </a:solidFill>
          <a:ln w="1905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927848" y="1536192"/>
            <a:ext cx="502920" cy="502920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7927848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7848" y="2148840"/>
            <a:ext cx="502920" cy="50292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516368" y="278892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Evaluation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&amp; Output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7516368" y="342900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9E"/>
                </a:solidFill>
              </a:rPr>
              <a:t>Metrics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C9E"/>
                </a:solidFill>
              </a:rPr>
              <a:t>Visualize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457200" y="42519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8F0FE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4343400"/>
            <a:ext cx="411480" cy="41148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097280" y="4315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D3A"/>
                </a:solidFill>
              </a:rPr>
              <a:t>Apache Kafka Layer (Streaming Extension):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1097280" y="46177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E"/>
                </a:solidFill>
              </a:rPr>
              <a:t>Producer → Topics → Consumer → Spark Streaming → Real-time Predictions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Sentiment140 Dataset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920240" cy="1051560"/>
          </a:xfrm>
          <a:prstGeom prst="rect">
            <a:avLst/>
          </a:prstGeom>
          <a:solidFill>
            <a:srgbClr val="0F2A50"/>
          </a:solidFill>
          <a:ln w="1270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8FF"/>
                </a:solidFill>
              </a:rPr>
              <a:t>1.6M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9E"/>
                </a:solidFill>
              </a:rPr>
              <a:t>Total Tweets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143000"/>
            <a:ext cx="1920240" cy="1051560"/>
          </a:xfrm>
          <a:prstGeom prst="rect">
            <a:avLst/>
          </a:prstGeom>
          <a:solidFill>
            <a:srgbClr val="0F2A50"/>
          </a:solidFill>
          <a:ln w="1270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8FF"/>
                </a:solidFill>
              </a:rPr>
              <a:t>800K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0" y="1783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9E"/>
                </a:solidFill>
              </a:rPr>
              <a:t>Positive Tweets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143000"/>
            <a:ext cx="1920240" cy="1051560"/>
          </a:xfrm>
          <a:prstGeom prst="rect">
            <a:avLst/>
          </a:prstGeom>
          <a:solidFill>
            <a:srgbClr val="0F2A50"/>
          </a:solidFill>
          <a:ln w="1270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8FF"/>
                </a:solidFill>
              </a:rPr>
              <a:t>800K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0" y="1783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9E"/>
                </a:solidFill>
              </a:rPr>
              <a:t>Negative Tweets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143000"/>
            <a:ext cx="1920240" cy="1051560"/>
          </a:xfrm>
          <a:prstGeom prst="rect">
            <a:avLst/>
          </a:prstGeom>
          <a:solidFill>
            <a:srgbClr val="0F2A50"/>
          </a:solidFill>
          <a:ln w="1270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8FF"/>
                </a:solidFill>
              </a:rPr>
              <a:t>6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675120" y="1783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9E"/>
                </a:solidFill>
              </a:rPr>
              <a:t>Columns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377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Dataset Columns: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88920"/>
          <a:ext cx="8229600" cy="2148839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9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Sentiment label (0=neg, 4=pos)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0 or 4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C9E"/>
                          </a:solidFill>
                        </a:rPr>
                        <a:t>ids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C9E"/>
                          </a:solidFill>
                        </a:rPr>
                        <a:t>Tweet unique identifier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C9E"/>
                          </a:solidFill>
                        </a:rPr>
                        <a:t>1467810369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Tweet timestamp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Mon Apr 06 22:19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C9E"/>
                          </a:solidFill>
                        </a:rPr>
                        <a:t>flag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C9E"/>
                          </a:solidFill>
                        </a:rPr>
                        <a:t>Query flag (NOQUERY if none)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C9E"/>
                          </a:solidFill>
                        </a:rPr>
                        <a:t>NOQUERY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user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Twitter username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scotthamilton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C9E"/>
                          </a:solidFill>
                        </a:rPr>
                        <a:t>text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C9E"/>
                          </a:solidFill>
                        </a:rPr>
                        <a:t>Raw tweet content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C9E"/>
                          </a:solidFill>
                        </a:rPr>
                        <a:t>@switchfoot I hate...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PREPROCESSING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D3A"/>
                </a:solidFill>
              </a:rPr>
              <a:t>Data Preprocessing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658368"/>
          </a:xfrm>
          <a:prstGeom prst="rect">
            <a:avLst/>
          </a:prstGeom>
          <a:solidFill>
            <a:srgbClr val="FFF3CD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1615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1887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Step 1: Raw Tweet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34840" y="1097280"/>
            <a:ext cx="457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26280" y="109728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B1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@user123 Check http://bit.ly/xyz!! 😊 #ML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1847088"/>
            <a:ext cx="3931920" cy="658368"/>
          </a:xfrm>
          <a:prstGeom prst="rect">
            <a:avLst/>
          </a:prstGeom>
          <a:solidFill>
            <a:srgbClr val="E8F4FD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659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19385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Step 2: Remove URLs &amp; @users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434840" y="1847088"/>
            <a:ext cx="457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526280" y="1847088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B1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Check !! 😊 #ML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2596896"/>
            <a:ext cx="3931920" cy="658368"/>
          </a:xfrm>
          <a:prstGeom prst="rect">
            <a:avLst/>
          </a:prstGeom>
          <a:solidFill>
            <a:srgbClr val="E8F8F5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715768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268833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Step 3: Remove Special Chars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434840" y="2596896"/>
            <a:ext cx="457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4526280" y="2596896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B1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Check  ML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5760" y="3346704"/>
            <a:ext cx="393192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465576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0120" y="343814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Step 4: Lowercase &amp; Trim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434840" y="3346704"/>
            <a:ext cx="457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4526280" y="3346704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B1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check ml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65760" y="4096512"/>
            <a:ext cx="3931920" cy="658368"/>
          </a:xfrm>
          <a:prstGeom prst="rect">
            <a:avLst/>
          </a:prstGeom>
          <a:solidFill>
            <a:srgbClr val="E8F8F5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215384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0120" y="418795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Step 5: Stop Words Removed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4434840" y="4096512"/>
            <a:ext cx="457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4526280" y="409651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B1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check ml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365760" y="4709160"/>
            <a:ext cx="8321040" cy="347472"/>
          </a:xfrm>
          <a:prstGeom prst="rect">
            <a:avLst/>
          </a:prstGeom>
          <a:solidFill>
            <a:srgbClr val="0B1D3A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457200" y="4709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df.withColumn('text', regexp_replace(col('text'), r'@\w+', ''))  →  lowercase()  →  trim()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TF-IDF Feature Extraction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572768" cy="3200400"/>
          </a:xfrm>
          <a:prstGeom prst="rect">
            <a:avLst/>
          </a:prstGeom>
          <a:solidFill>
            <a:srgbClr val="0F2A50"/>
          </a:solidFill>
          <a:ln w="1905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3816" y="1325880"/>
            <a:ext cx="502920" cy="502920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938528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606040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Tokenizer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9184" y="310896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C9E"/>
                </a:solidFill>
              </a:rPr>
              <a:t>Splits text into word tokens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C9E"/>
                </a:solidFill>
              </a:rPr>
              <a:t>"love music" → ['love','music']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847088" y="2770632"/>
            <a:ext cx="13716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93392" y="1188720"/>
            <a:ext cx="1572768" cy="3200400"/>
          </a:xfrm>
          <a:prstGeom prst="rect">
            <a:avLst/>
          </a:prstGeom>
          <a:solidFill>
            <a:srgbClr val="0F2A50"/>
          </a:solidFill>
          <a:ln w="1905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32888" y="1325880"/>
            <a:ext cx="502920" cy="502920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32888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938528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39112" y="2606040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StopWordsRemover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048256" y="310896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C9E"/>
                </a:solidFill>
              </a:rPr>
              <a:t>Removes common words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C9E"/>
                </a:solidFill>
              </a:rPr>
              <a:t>['the','is','a'] removed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566160" y="2770632"/>
            <a:ext cx="13716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712464" y="1188720"/>
            <a:ext cx="1572768" cy="3200400"/>
          </a:xfrm>
          <a:prstGeom prst="rect">
            <a:avLst/>
          </a:prstGeom>
          <a:solidFill>
            <a:srgbClr val="0F2A50"/>
          </a:solidFill>
          <a:ln w="1905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251960" y="1325880"/>
            <a:ext cx="502920" cy="502920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25196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3672" y="1938528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758184" y="2606040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HashingTF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767328" y="310896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C9E"/>
                </a:solidFill>
              </a:rPr>
              <a:t>Maps tokens to feature vectors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C9E"/>
                </a:solidFill>
              </a:rPr>
              <a:t>Sparse vector of term freq.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5285232" y="2770632"/>
            <a:ext cx="13716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431536" y="1188720"/>
            <a:ext cx="1572768" cy="3200400"/>
          </a:xfrm>
          <a:prstGeom prst="rect">
            <a:avLst/>
          </a:prstGeom>
          <a:solidFill>
            <a:srgbClr val="0F2A50"/>
          </a:solidFill>
          <a:ln w="1905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971032" y="1325880"/>
            <a:ext cx="502920" cy="502920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971032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2744" y="1938528"/>
            <a:ext cx="548640" cy="5486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477256" y="2606040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IDF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486400" y="310896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C9E"/>
                </a:solidFill>
              </a:rPr>
              <a:t>Weights by document frequency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C9E"/>
                </a:solidFill>
              </a:rPr>
              <a:t>Rare terms get higher weight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7004304" y="2770632"/>
            <a:ext cx="13716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150608" y="1188720"/>
            <a:ext cx="1572768" cy="3200400"/>
          </a:xfrm>
          <a:prstGeom prst="rect">
            <a:avLst/>
          </a:prstGeom>
          <a:solidFill>
            <a:srgbClr val="0F2A50"/>
          </a:solidFill>
          <a:ln w="1905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690104" y="1325880"/>
            <a:ext cx="502920" cy="502920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690104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1816" y="1938528"/>
            <a:ext cx="548640" cy="54864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196328" y="2606040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Classifier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7205472" y="310896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C9E"/>
                </a:solidFill>
              </a:rPr>
              <a:t>ML model receives TF-IDF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C9E"/>
                </a:solidFill>
              </a:rPr>
              <a:t>features for classification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0F2A50"/>
          </a:solidFill>
          <a:ln w="12700">
            <a:solidFill>
              <a:srgbClr val="0F2A50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C8FF"/>
                </a:solidFill>
              </a:rPr>
              <a:t>TF-IDF(t,d,D) = TF(t,d) × log(|D| / |{d∈D : t∈d}|)   — Higher score = more relevant term in document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ML MODELS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D3A"/>
                </a:solidFill>
              </a:rPr>
              <a:t>Machine Learning Models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3657600"/>
          </a:xfrm>
          <a:prstGeom prst="rect">
            <a:avLst/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344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Logistic Regression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737360"/>
            <a:ext cx="251460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47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E"/>
                </a:solidFill>
              </a:rPr>
              <a:t>Accuracy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FF"/>
                </a:solidFill>
              </a:rPr>
              <a:t>79.89%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83080" y="18470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E"/>
                </a:solidFill>
              </a:rPr>
              <a:t>AUC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83080" y="21031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107"/>
                </a:solidFill>
              </a:rPr>
              <a:t>0.8776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2606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Advantages:</a:t>
            </a:r>
            <a:endParaRPr lang="en-US" sz="10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44368"/>
            <a:ext cx="228600" cy="2286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1520" y="29260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Fast training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184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1520" y="32735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Interpretable weights</a:t>
            </a:r>
            <a:endParaRPr lang="en-US" sz="10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39312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31520" y="36210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Low memory usage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11480" y="4023360"/>
            <a:ext cx="2514600" cy="36576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11480" y="409651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C9E"/>
                </a:solidFill>
              </a:rPr>
              <a:t>Best balance of accuracy and speed for text classification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3200400" y="1097280"/>
            <a:ext cx="2697480" cy="3657600"/>
          </a:xfrm>
          <a:prstGeom prst="rect">
            <a:avLst/>
          </a:prstGeom>
          <a:solidFill>
            <a:srgbClr val="1A6A3A"/>
          </a:solidFill>
          <a:ln w="12700">
            <a:solidFill>
              <a:srgbClr val="1A6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3291840" y="12344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Naive Bayes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3291840" y="1737360"/>
            <a:ext cx="251460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383280" y="1847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E"/>
                </a:solidFill>
              </a:rPr>
              <a:t>Accuracy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3383280" y="2103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FF"/>
                </a:solidFill>
              </a:rPr>
              <a:t>77.54%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4663440" y="18470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E"/>
                </a:solidFill>
              </a:rPr>
              <a:t>AUC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4663440" y="21031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107"/>
                </a:solidFill>
              </a:rPr>
              <a:t>0.8480</a:t>
            </a:r>
            <a:endParaRPr lang="en-US" sz="2000" dirty="0"/>
          </a:p>
        </p:txBody>
      </p:sp>
      <p:sp>
        <p:nvSpPr>
          <p:cNvPr id="28" name="Text 23"/>
          <p:cNvSpPr/>
          <p:nvPr/>
        </p:nvSpPr>
        <p:spPr>
          <a:xfrm>
            <a:off x="3337560" y="2606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Advantages:</a:t>
            </a:r>
            <a:endParaRPr lang="en-US" sz="10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2944368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3611880" y="29260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Extremely fast</a:t>
            </a:r>
            <a:endParaRPr lang="en-US" sz="10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3291840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611880" y="32735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Works with sparse TF-IDF</a:t>
            </a:r>
            <a:endParaRPr lang="en-US" sz="10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3639312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611880" y="36210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Classic NLP baseline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3291840" y="4023360"/>
            <a:ext cx="2514600" cy="36576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3291840" y="409651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C9E"/>
                </a:solidFill>
              </a:rPr>
              <a:t>Strong baseline model — ideal for large-scale text data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6080760" y="1097280"/>
            <a:ext cx="2697480" cy="3657600"/>
          </a:xfrm>
          <a:prstGeom prst="rect">
            <a:avLst/>
          </a:prstGeom>
          <a:solidFill>
            <a:srgbClr val="6A1A1A"/>
          </a:solidFill>
          <a:ln w="12700">
            <a:solidFill>
              <a:srgbClr val="6A1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8" name="Text 30"/>
          <p:cNvSpPr/>
          <p:nvPr/>
        </p:nvSpPr>
        <p:spPr>
          <a:xfrm>
            <a:off x="6172200" y="12344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Random Forest</a:t>
            </a:r>
            <a:endParaRPr lang="en-US" sz="1300" dirty="0"/>
          </a:p>
        </p:txBody>
      </p:sp>
      <p:sp>
        <p:nvSpPr>
          <p:cNvPr id="39" name="Shape 31"/>
          <p:cNvSpPr/>
          <p:nvPr/>
        </p:nvSpPr>
        <p:spPr>
          <a:xfrm>
            <a:off x="6172200" y="1737360"/>
            <a:ext cx="251460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6263640" y="1847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E"/>
                </a:solidFill>
              </a:rPr>
              <a:t>Accuracy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6263640" y="2103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FF"/>
                </a:solidFill>
              </a:rPr>
              <a:t>58.55%</a:t>
            </a:r>
            <a:endParaRPr lang="en-US" sz="2000" dirty="0"/>
          </a:p>
        </p:txBody>
      </p:sp>
      <p:sp>
        <p:nvSpPr>
          <p:cNvPr id="42" name="Text 34"/>
          <p:cNvSpPr/>
          <p:nvPr/>
        </p:nvSpPr>
        <p:spPr>
          <a:xfrm>
            <a:off x="7543800" y="18470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E"/>
                </a:solidFill>
              </a:rPr>
              <a:t>AUC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7543800" y="21031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107"/>
                </a:solidFill>
              </a:rPr>
              <a:t>0.6068</a:t>
            </a:r>
            <a:endParaRPr lang="en-US" sz="2000" dirty="0"/>
          </a:p>
        </p:txBody>
      </p:sp>
      <p:sp>
        <p:nvSpPr>
          <p:cNvPr id="44" name="Text 36"/>
          <p:cNvSpPr/>
          <p:nvPr/>
        </p:nvSpPr>
        <p:spPr>
          <a:xfrm>
            <a:off x="6217920" y="2606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Advantages:</a:t>
            </a:r>
            <a:endParaRPr lang="en-US" sz="1000" dirty="0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944368"/>
            <a:ext cx="228600" cy="22860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6492240" y="29260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Handles non-linearity</a:t>
            </a:r>
            <a:endParaRPr lang="en-US" sz="100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291840"/>
            <a:ext cx="228600" cy="228600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6492240" y="32735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Feature importance</a:t>
            </a:r>
            <a:endParaRPr lang="en-US" sz="1000" dirty="0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639312"/>
            <a:ext cx="228600" cy="228600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6492240" y="36210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Ensemble method</a:t>
            </a:r>
            <a:endParaRPr lang="en-US" sz="1000" dirty="0"/>
          </a:p>
        </p:txBody>
      </p:sp>
      <p:sp>
        <p:nvSpPr>
          <p:cNvPr id="51" name="Shape 40"/>
          <p:cNvSpPr/>
          <p:nvPr/>
        </p:nvSpPr>
        <p:spPr>
          <a:xfrm>
            <a:off x="6172200" y="4023360"/>
            <a:ext cx="2514600" cy="36576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2" name="Text 41"/>
          <p:cNvSpPr/>
          <p:nvPr/>
        </p:nvSpPr>
        <p:spPr>
          <a:xfrm>
            <a:off x="6172200" y="409651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C9E"/>
                </a:solidFill>
              </a:rPr>
              <a:t>Less effective on text but demonstrates ensemble approach</a:t>
            </a:r>
            <a:endParaRPr lang="en-US" sz="900" dirty="0"/>
          </a:p>
        </p:txBody>
      </p:sp>
      <p:sp>
        <p:nvSpPr>
          <p:cNvPr id="53" name="Shape 42"/>
          <p:cNvSpPr/>
          <p:nvPr/>
        </p:nvSpPr>
        <p:spPr>
          <a:xfrm>
            <a:off x="320040" y="4846320"/>
            <a:ext cx="2697480" cy="201168"/>
          </a:xfrm>
          <a:prstGeom prst="roundRect">
            <a:avLst>
              <a:gd name="adj" fmla="val 22727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4" name="Text 43"/>
          <p:cNvSpPr/>
          <p:nvPr/>
        </p:nvSpPr>
        <p:spPr>
          <a:xfrm>
            <a:off x="320040" y="484632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D3A"/>
                </a:solidFill>
              </a:rPr>
              <a:t>🏆 BEST MODEL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SPARK ML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Apache Spark ML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1572768" cy="868680"/>
          </a:xfrm>
          <a:prstGeom prst="rect">
            <a:avLst/>
          </a:prstGeom>
          <a:solidFill>
            <a:srgbClr val="1A3A6A"/>
          </a:solidFill>
          <a:ln w="19050">
            <a:solidFill>
              <a:srgbClr val="1E9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80160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Tokenizer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92808" y="1696212"/>
            <a:ext cx="128016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39112" y="1280160"/>
            <a:ext cx="1572768" cy="868680"/>
          </a:xfrm>
          <a:prstGeom prst="rect">
            <a:avLst/>
          </a:prstGeom>
          <a:solidFill>
            <a:srgbClr val="1A3A6A"/>
          </a:solidFill>
          <a:ln w="19050">
            <a:solidFill>
              <a:srgbClr val="1E9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39112" y="1280160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StopWordsRemover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11880" y="1696212"/>
            <a:ext cx="128016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58184" y="1280160"/>
            <a:ext cx="1572768" cy="868680"/>
          </a:xfrm>
          <a:prstGeom prst="rect">
            <a:avLst/>
          </a:prstGeom>
          <a:solidFill>
            <a:srgbClr val="1A3A6A"/>
          </a:solidFill>
          <a:ln w="19050">
            <a:solidFill>
              <a:srgbClr val="1E9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58184" y="1280160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HashingTF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30952" y="1696212"/>
            <a:ext cx="128016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77256" y="1280160"/>
            <a:ext cx="1572768" cy="868680"/>
          </a:xfrm>
          <a:prstGeom prst="rect">
            <a:avLst/>
          </a:prstGeom>
          <a:solidFill>
            <a:srgbClr val="1A3A6A"/>
          </a:solidFill>
          <a:ln w="19050">
            <a:solidFill>
              <a:srgbClr val="1E9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77256" y="1280160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IDF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50024" y="1696212"/>
            <a:ext cx="128016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96328" y="1280160"/>
            <a:ext cx="1572768" cy="868680"/>
          </a:xfrm>
          <a:prstGeom prst="rect">
            <a:avLst/>
          </a:prstGeom>
          <a:solidFill>
            <a:srgbClr val="2A4A1A"/>
          </a:solidFill>
          <a:ln w="19050">
            <a:solidFill>
              <a:srgbClr val="1E9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96328" y="1280160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LR / NB / RF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286000"/>
            <a:ext cx="8458200" cy="36576"/>
          </a:xfrm>
          <a:prstGeom prst="rect">
            <a:avLst/>
          </a:prstGeom>
          <a:solidFill>
            <a:srgbClr val="1E90FF">
              <a:alpha val="60000"/>
            </a:srgbClr>
          </a:solidFill>
          <a:ln w="12700">
            <a:solidFill>
              <a:srgbClr val="1E90FF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331720"/>
            <a:ext cx="8458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C9E"/>
                </a:solidFill>
              </a:rPr>
              <a:t>← Spark ML Pipeline (pipeline.fit(train_df) → pipeline.transform(test_df)) →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788920"/>
            <a:ext cx="8229600" cy="2148840"/>
          </a:xfrm>
          <a:prstGeom prst="rect">
            <a:avLst/>
          </a:prstGeom>
          <a:solidFill>
            <a:srgbClr val="08162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83464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pyspark.ml import Pipeline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303123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pyspark.ml.feature import Tokenizer, StopWordsRemover, HashingTF, IDF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322783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pyspark.ml.classification import LogisticRegression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362102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tokenizer = Tokenizer(inputCol='text', outputCol='words')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381762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remover   = StopWordsRemover(inputCol='words', outputCol='filtered')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" y="401421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hashingTF = HashingTF(inputCol='filtered', outputCol='rawFeatures', numFeatures=10000)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" y="421081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idf       = IDF(inputCol='rawFeatures', outputCol='features')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440740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       = LogisticRegression(featuresCol='features', labelCol='label')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460400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 = Pipeline(stages=[tokenizer, remover, hashingTF, idf, lr])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D3A"/>
                </a:solidFill>
              </a:rPr>
              <a:t>Model Training &amp; Evaluation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657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430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</a:rPr>
              <a:t>Dataset Split Strategy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2743200" cy="38404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572768"/>
            <a:ext cx="685800" cy="3840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727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80% Training (1.28M)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0" y="157276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D3A"/>
                </a:solidFill>
              </a:rPr>
              <a:t>20% Test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3591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</a:rPr>
              <a:t>Evaluation Metrics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88920"/>
          <a:ext cx="3474720" cy="204216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Formula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B1D3A"/>
                          </a:solidFill>
                        </a:rPr>
                        <a:t>Accuracy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B1D3A"/>
                          </a:solidFill>
                        </a:rPr>
                        <a:t>Correct / Total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B1D3A"/>
                          </a:solidFill>
                        </a:rPr>
                        <a:t>Overall correctness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B1D3A"/>
                          </a:solidFill>
                        </a:rPr>
                        <a:t>Precision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B1D3A"/>
                          </a:solidFill>
                        </a:rPr>
                        <a:t>TP / (TP+FP)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B1D3A"/>
                          </a:solidFill>
                        </a:rPr>
                        <a:t>Exactness of positive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B1D3A"/>
                          </a:solidFill>
                        </a:rPr>
                        <a:t>Recall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B1D3A"/>
                          </a:solidFill>
                        </a:rPr>
                        <a:t>TP / (TP+FN)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B1D3A"/>
                          </a:solidFill>
                        </a:rPr>
                        <a:t>Coverage of positive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B1D3A"/>
                          </a:solidFill>
                        </a:rPr>
                        <a:t>F1-Score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B1D3A"/>
                          </a:solidFill>
                        </a:rPr>
                        <a:t>2×(P×R)/(P+R)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B1D3A"/>
                          </a:solidFill>
                        </a:rPr>
                        <a:t>Balanced P &amp; R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B1D3A"/>
                          </a:solidFill>
                        </a:rPr>
                        <a:t>AUC-ROC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B1D3A"/>
                          </a:solidFill>
                        </a:rPr>
                        <a:t>Area under ROC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B1D3A"/>
                          </a:solidFill>
                        </a:rPr>
                        <a:t>Discrimination power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" name="Chart 0"/>
          <p:cNvGraphicFramePr/>
          <p:nvPr/>
        </p:nvGraphicFramePr>
        <p:xfrm>
          <a:off x="4206240" y="1097280"/>
          <a:ext cx="4572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hape 11"/>
          <p:cNvSpPr/>
          <p:nvPr/>
        </p:nvSpPr>
        <p:spPr>
          <a:xfrm>
            <a:off x="4206240" y="4434840"/>
            <a:ext cx="4572000" cy="502920"/>
          </a:xfrm>
          <a:prstGeom prst="rect">
            <a:avLst/>
          </a:prstGeom>
          <a:solidFill>
            <a:srgbClr val="E8F4FD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450799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4880" y="44805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</a:rPr>
              <a:t>Best: Logistic Regression — 79.89% Accuracy, AUC 0.8776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Model Performance Comparison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686800" cy="16459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AUC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C107"/>
                          </a:solidFill>
                        </a:rPr>
                        <a:t>Logistic Regression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896"/>
                          </a:solidFill>
                        </a:rPr>
                        <a:t>79.89%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79.90%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79.89%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896"/>
                          </a:solidFill>
                        </a:rPr>
                        <a:t>0.7957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896"/>
                          </a:solidFill>
                        </a:rPr>
                        <a:t>0.8776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Naive Bayes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C8FF"/>
                          </a:solidFill>
                        </a:rPr>
                        <a:t>77.54%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77.80%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77.54%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C8FF"/>
                          </a:solidFill>
                        </a:rPr>
                        <a:t>0.7759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C8FF"/>
                          </a:solidFill>
                        </a:rPr>
                        <a:t>0.8480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C9E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4F5E"/>
                          </a:solidFill>
                        </a:rPr>
                        <a:t>58.55%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C9E"/>
                          </a:solidFill>
                        </a:rPr>
                        <a:t>58.10%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C9E"/>
                          </a:solidFill>
                        </a:rPr>
                        <a:t>58.55%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4F5E"/>
                          </a:solidFill>
                        </a:rPr>
                        <a:t>0.5331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4F5E"/>
                          </a:solidFill>
                        </a:rPr>
                        <a:t>0.6068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457200" y="3017520"/>
          <a:ext cx="41148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754880" y="3017520"/>
          <a:ext cx="393192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VISUALIZATION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D3A"/>
                </a:solidFill>
              </a:rPr>
              <a:t>Data Visualization &amp; Analysis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97280"/>
          <a:ext cx="41148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663440" y="1097280"/>
            <a:ext cx="1828800" cy="1371600"/>
          </a:xfrm>
          <a:prstGeom prst="rect">
            <a:avLst/>
          </a:prstGeom>
          <a:solidFill>
            <a:srgbClr val="E8F8F5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709160" y="11887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78"/>
                </a:solidFill>
              </a:rPr>
              <a:t>☁ Positive Words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09160" y="16002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A878"/>
                </a:solidFill>
              </a:rPr>
              <a:t>love  happy  great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00A878"/>
                </a:solidFill>
              </a:rPr>
              <a:t>good  day  thanks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00A878"/>
                </a:solidFill>
              </a:rPr>
              <a:t>wonderful  best  yay!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675120" y="1097280"/>
            <a:ext cx="2011680" cy="1371600"/>
          </a:xfrm>
          <a:prstGeom prst="rect">
            <a:avLst/>
          </a:prstGeom>
          <a:solidFill>
            <a:srgbClr val="FFF0F0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20840" y="1188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4040"/>
                </a:solidFill>
              </a:rPr>
              <a:t>☁ Negative Words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20840" y="16002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94040"/>
                </a:solidFill>
              </a:rPr>
              <a:t>hate  miss  sad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D94040"/>
                </a:solidFill>
              </a:rPr>
              <a:t>bad  tired  sick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D94040"/>
                </a:solidFill>
              </a:rPr>
              <a:t>awful  terrible  ugh</a:t>
            </a:r>
            <a:endParaRPr lang="en-US" sz="900" dirty="0"/>
          </a:p>
        </p:txBody>
      </p:sp>
      <p:graphicFrame>
        <p:nvGraphicFramePr>
          <p:cNvPr id="12" name="Chart 1"/>
          <p:cNvGraphicFramePr/>
          <p:nvPr/>
        </p:nvGraphicFramePr>
        <p:xfrm>
          <a:off x="4663440" y="2606040"/>
          <a:ext cx="40233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Shape 9"/>
          <p:cNvSpPr/>
          <p:nvPr/>
        </p:nvSpPr>
        <p:spPr>
          <a:xfrm>
            <a:off x="365760" y="4160520"/>
            <a:ext cx="4114800" cy="777240"/>
          </a:xfrm>
          <a:prstGeom prst="rect">
            <a:avLst/>
          </a:prstGeom>
          <a:solidFill>
            <a:srgbClr val="0B1D3A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279392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420624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Dataset is perfectly balanced — 800K positive and 800K negative tweets, ensuring unbiased model training.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KAFKA INTEGRATION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Apache Kafka — Real-Time Streaming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572768" cy="2011680"/>
          </a:xfrm>
          <a:prstGeom prst="rect">
            <a:avLst/>
          </a:prstGeom>
          <a:solidFill>
            <a:srgbClr val="0F2A50"/>
          </a:solidFill>
          <a:ln w="1905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4173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05740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Twitter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Source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26517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9E"/>
                </a:solidFill>
              </a:rPr>
              <a:t>Live tweet stream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892808" y="2194560"/>
            <a:ext cx="128016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39112" y="1188720"/>
            <a:ext cx="1572768" cy="2011680"/>
          </a:xfrm>
          <a:prstGeom prst="rect">
            <a:avLst/>
          </a:prstGeom>
          <a:solidFill>
            <a:srgbClr val="0F2A50"/>
          </a:solidFill>
          <a:ln w="1905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141732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39112" y="205740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Kafka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Producer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039112" y="26517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9E"/>
                </a:solidFill>
              </a:rPr>
              <a:t>Publishes tweets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611880" y="2194560"/>
            <a:ext cx="128016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758184" y="1188720"/>
            <a:ext cx="1572768" cy="2011680"/>
          </a:xfrm>
          <a:prstGeom prst="rect">
            <a:avLst/>
          </a:prstGeom>
          <a:solidFill>
            <a:srgbClr val="0F2A50"/>
          </a:solidFill>
          <a:ln w="1905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392" y="141732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58184" y="205740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Kafka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758184" y="26517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9E"/>
                </a:solidFill>
              </a:rPr>
              <a:t>tweet_stream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330952" y="2194560"/>
            <a:ext cx="128016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477256" y="1188720"/>
            <a:ext cx="1572768" cy="2011680"/>
          </a:xfrm>
          <a:prstGeom prst="rect">
            <a:avLst/>
          </a:prstGeom>
          <a:solidFill>
            <a:srgbClr val="0F2A50"/>
          </a:solidFill>
          <a:ln w="1905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8464" y="141732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77256" y="205740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Spark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Consumer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477256" y="26517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9E"/>
                </a:solidFill>
              </a:rPr>
              <a:t>ML inference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7050024" y="2194560"/>
            <a:ext cx="128016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196328" y="1188720"/>
            <a:ext cx="1572768" cy="2011680"/>
          </a:xfrm>
          <a:prstGeom prst="rect">
            <a:avLst/>
          </a:prstGeom>
          <a:solidFill>
            <a:srgbClr val="0F2A50"/>
          </a:solidFill>
          <a:ln w="1905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7536" y="1417320"/>
            <a:ext cx="548640" cy="5486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96328" y="205740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Predictions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7196328" y="26517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9E"/>
                </a:solidFill>
              </a:rPr>
              <a:t>Pos / Neg labels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57200" y="3383280"/>
            <a:ext cx="4023360" cy="1554480"/>
          </a:xfrm>
          <a:prstGeom prst="rect">
            <a:avLst/>
          </a:prstGeom>
          <a:solidFill>
            <a:srgbClr val="08162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548640" y="3429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</a:rPr>
              <a:t>Kafka Producer (Python)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548640" y="3749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kafka import KafkaProducer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548640" y="39456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producer = KafkaProducer(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548640" y="4142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bootstrap_servers=['localhost:9092'])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548640" y="43388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tweet in tweets: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548640" y="45354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producer.send('tweet_stream',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548640" y="47320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tweet.encode('utf-8'))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4663440" y="3383280"/>
            <a:ext cx="4023360" cy="1554480"/>
          </a:xfrm>
          <a:prstGeom prst="rect">
            <a:avLst/>
          </a:prstGeom>
          <a:solidFill>
            <a:srgbClr val="0F2A50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8" name="Text 31"/>
          <p:cNvSpPr/>
          <p:nvPr/>
        </p:nvSpPr>
        <p:spPr>
          <a:xfrm>
            <a:off x="4754880" y="3456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Kafka Benefits for This Project</a:t>
            </a:r>
            <a:endParaRPr lang="en-US" sz="110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3840480"/>
            <a:ext cx="201168" cy="20116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029200" y="38221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E"/>
                </a:solidFill>
              </a:rPr>
              <a:t>Fault-tolerant tweet streaming</a:t>
            </a:r>
            <a:endParaRPr lang="en-US" sz="1000" dirty="0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4114800"/>
            <a:ext cx="201168" cy="20116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5029200" y="40965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E"/>
                </a:solidFill>
              </a:rPr>
              <a:t>High-throughput message processing</a:t>
            </a:r>
            <a:endParaRPr lang="en-US" sz="1000" dirty="0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4389120"/>
            <a:ext cx="201168" cy="20116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5029200" y="43708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E"/>
                </a:solidFill>
              </a:rPr>
              <a:t>Decoupled producer &amp; consumer</a:t>
            </a:r>
            <a:endParaRPr lang="en-US" sz="1000" dirty="0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4663440"/>
            <a:ext cx="201168" cy="201168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5029200" y="46451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E"/>
                </a:solidFill>
              </a:rPr>
              <a:t>Replay capability for testing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CHALLENGES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D3A"/>
                </a:solidFill>
              </a:rPr>
              <a:t>Challenges &amp; Solutions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188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Large Dataset Handling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645920"/>
            <a:ext cx="3977640" cy="18288"/>
          </a:xfrm>
          <a:prstGeom prst="rect">
            <a:avLst/>
          </a:prstGeom>
          <a:solidFill>
            <a:srgbClr val="D1E3FF"/>
          </a:solidFill>
          <a:ln w="12700">
            <a:solidFill>
              <a:srgbClr val="D1E3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709928"/>
            <a:ext cx="3977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E"/>
                </a:solidFill>
              </a:rPr>
              <a:t>→ Configured spark.driver.memory=4g and spark.sql.shuffle.partitions=4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23444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21808" y="1188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Processing Time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846320" y="1645920"/>
            <a:ext cx="3977640" cy="18288"/>
          </a:xfrm>
          <a:prstGeom prst="rect">
            <a:avLst/>
          </a:prstGeom>
          <a:solidFill>
            <a:srgbClr val="D1E3FF"/>
          </a:solidFill>
          <a:ln w="12700">
            <a:solidFill>
              <a:srgbClr val="D1E3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46320" y="1709928"/>
            <a:ext cx="3977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E"/>
                </a:solidFill>
              </a:rPr>
              <a:t>→ Used local[*] (all cores), optimized partitioning, sampled for testing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65760" y="2395728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53288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2688" y="24871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Environment Configuration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2944368"/>
            <a:ext cx="3977640" cy="18288"/>
          </a:xfrm>
          <a:prstGeom prst="rect">
            <a:avLst/>
          </a:prstGeom>
          <a:solidFill>
            <a:srgbClr val="D1E3FF"/>
          </a:solidFill>
          <a:ln w="12700">
            <a:solidFill>
              <a:srgbClr val="D1E3F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57200" y="3008376"/>
            <a:ext cx="3977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E"/>
                </a:solidFill>
              </a:rPr>
              <a:t>→ Pinned PySpark==3.5.0, set JAVA_HOME explicitly, force-reinstalled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54880" y="2395728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532888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21808" y="24871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Random Forest Underperformance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846320" y="2944368"/>
            <a:ext cx="3977640" cy="18288"/>
          </a:xfrm>
          <a:prstGeom prst="rect">
            <a:avLst/>
          </a:prstGeom>
          <a:solidFill>
            <a:srgbClr val="D1E3FF"/>
          </a:solidFill>
          <a:ln w="12700">
            <a:solidFill>
              <a:srgbClr val="D1E3FF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846320" y="3008376"/>
            <a:ext cx="3977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E"/>
                </a:solidFill>
              </a:rPr>
              <a:t>→ RF not ideal for sparse TF-IDF; LR is better suited for high-dim text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65760" y="3694176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831336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32688" y="37856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Kafka Streaming Setup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457200" y="4242816"/>
            <a:ext cx="3977640" cy="18288"/>
          </a:xfrm>
          <a:prstGeom prst="rect">
            <a:avLst/>
          </a:prstGeom>
          <a:solidFill>
            <a:srgbClr val="D1E3FF"/>
          </a:solidFill>
          <a:ln w="12700">
            <a:solidFill>
              <a:srgbClr val="D1E3FF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57200" y="4306824"/>
            <a:ext cx="3977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E"/>
                </a:solidFill>
              </a:rPr>
              <a:t>→ Simulated streaming with Python sleep() &amp; batch window processing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754880" y="3694176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3831336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21808" y="37856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Feature Dimensionality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4846320" y="4242816"/>
            <a:ext cx="3977640" cy="18288"/>
          </a:xfrm>
          <a:prstGeom prst="rect">
            <a:avLst/>
          </a:prstGeom>
          <a:solidFill>
            <a:srgbClr val="D1E3FF"/>
          </a:solidFill>
          <a:ln w="12700">
            <a:solidFill>
              <a:srgbClr val="D1E3FF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4846320" y="4306824"/>
            <a:ext cx="3977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E"/>
                </a:solidFill>
              </a:rPr>
              <a:t>→ Limited HashingTF numFeatures=10,000 to balance speed and accuracy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FUTURE 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Future Improvements &amp; Extensions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60520" cy="1097280"/>
          </a:xfrm>
          <a:prstGeom prst="rect">
            <a:avLst/>
          </a:prstGeom>
          <a:solidFill>
            <a:srgbClr val="0F2A50"/>
          </a:solidFill>
          <a:ln w="1270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438912" cy="438912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5331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26464" y="1298448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</a:rPr>
              <a:t>Deep Learning Integration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17830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E"/>
                </a:solidFill>
              </a:rPr>
              <a:t>Replace TF-IDF with BERT/RoBERTa embeddings for context-aware sentiment classification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188720"/>
            <a:ext cx="4160520" cy="1097280"/>
          </a:xfrm>
          <a:prstGeom prst="rect">
            <a:avLst/>
          </a:prstGeom>
          <a:solidFill>
            <a:srgbClr val="0F2A50"/>
          </a:solidFill>
          <a:ln w="1270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325880"/>
            <a:ext cx="438912" cy="438912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1325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72" y="1353312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15584" y="1298448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</a:rPr>
              <a:t>Live Twitter API Streaming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892040" y="17830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E"/>
                </a:solidFill>
              </a:rPr>
              <a:t>Integrate Twitter API v2 with real-time Kafka ingestion pipeline using bearer token auth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450592"/>
            <a:ext cx="4160520" cy="1097280"/>
          </a:xfrm>
          <a:prstGeom prst="rect">
            <a:avLst/>
          </a:prstGeom>
          <a:solidFill>
            <a:srgbClr val="0F2A50"/>
          </a:solidFill>
          <a:ln w="1270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2587752"/>
            <a:ext cx="438912" cy="438912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7200" y="2587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2615184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26464" y="2560320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</a:rPr>
              <a:t>Cloud Deployment (AWS/GCP)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02920" y="304495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E"/>
                </a:solidFill>
              </a:rPr>
              <a:t>Deploy on AWS EMR or Google Dataproc for scalable production-grade Spark clusters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754880" y="2450592"/>
            <a:ext cx="4160520" cy="1097280"/>
          </a:xfrm>
          <a:prstGeom prst="rect">
            <a:avLst/>
          </a:prstGeom>
          <a:solidFill>
            <a:srgbClr val="0F2A50"/>
          </a:solidFill>
          <a:ln w="1270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846320" y="2587752"/>
            <a:ext cx="438912" cy="438912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846320" y="2587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672" y="2615184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815584" y="2560320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</a:rPr>
              <a:t>Advanced NLP Techniques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892040" y="304495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E"/>
                </a:solidFill>
              </a:rPr>
              <a:t>Emoji handling, sarcasm detection, multi-class sentiment (very positive, neutral, negative)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65760" y="3712464"/>
            <a:ext cx="4160520" cy="1097280"/>
          </a:xfrm>
          <a:prstGeom prst="rect">
            <a:avLst/>
          </a:prstGeom>
          <a:solidFill>
            <a:srgbClr val="0F2A50"/>
          </a:solidFill>
          <a:ln w="1270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57200" y="3849624"/>
            <a:ext cx="438912" cy="438912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57200" y="38496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2" y="3877056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426464" y="382219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</a:rPr>
              <a:t>Real-Time Dashboard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502920" y="430682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E"/>
                </a:solidFill>
              </a:rPr>
              <a:t>Build a web dashboard showing live sentiment trends, trending topics, and model confidence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4754880" y="3712464"/>
            <a:ext cx="4160520" cy="1097280"/>
          </a:xfrm>
          <a:prstGeom prst="rect">
            <a:avLst/>
          </a:prstGeom>
          <a:solidFill>
            <a:srgbClr val="0F2A50"/>
          </a:solidFill>
          <a:ln w="12700">
            <a:solidFill>
              <a:srgbClr val="1E9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4846320" y="3849624"/>
            <a:ext cx="438912" cy="438912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4846320" y="38496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6672" y="3877056"/>
            <a:ext cx="365760" cy="36576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815584" y="382219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</a:rPr>
              <a:t>Multi-Language Support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4892040" y="430682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E"/>
                </a:solidFill>
              </a:rPr>
              <a:t>Extend to multilingual tweets using multilingual BERT and language detection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D3A"/>
                </a:solidFill>
              </a:rPr>
              <a:t>Project Conclusion &amp; Achievements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6858000" cy="502920"/>
          </a:xfrm>
          <a:prstGeom prst="rect">
            <a:avLst/>
          </a:prstGeom>
          <a:solidFill>
            <a:srgbClr val="E8F8F5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0700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143000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1D3A"/>
                </a:solidFill>
              </a:rPr>
              <a:t>Successfully built end-to-end Spark ML sentiment analysis pipeline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65760" y="1755648"/>
            <a:ext cx="6858000" cy="502920"/>
          </a:xfrm>
          <a:prstGeom prst="rect">
            <a:avLst/>
          </a:prstGeom>
          <a:solidFill>
            <a:srgbClr val="E8F8F5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19656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1755648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1D3A"/>
                </a:solidFill>
              </a:rPr>
              <a:t>Processed 1.6M Sentiment140 tweets using PySpark distributed computing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65760" y="2368296"/>
            <a:ext cx="6858000" cy="502920"/>
          </a:xfrm>
          <a:prstGeom prst="rect">
            <a:avLst/>
          </a:prstGeom>
          <a:solidFill>
            <a:srgbClr val="E8F8F5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432304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2368296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1D3A"/>
                </a:solidFill>
              </a:rPr>
              <a:t>Logistic Regression achieved 79.89% accuracy and 0.8776 AUC-ROC score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365760" y="2980944"/>
            <a:ext cx="6858000" cy="502920"/>
          </a:xfrm>
          <a:prstGeom prst="rect">
            <a:avLst/>
          </a:prstGeom>
          <a:solidFill>
            <a:srgbClr val="E8F8F5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44952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4400" y="2980944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1D3A"/>
                </a:solidFill>
              </a:rPr>
              <a:t>Compared 3 ML models — LR &gt; NB &gt; RF for large-scale text classification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365760" y="3593592"/>
            <a:ext cx="6858000" cy="502920"/>
          </a:xfrm>
          <a:prstGeom prst="rect">
            <a:avLst/>
          </a:prstGeom>
          <a:solidFill>
            <a:srgbClr val="E8F8F5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57600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14400" y="3593592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1D3A"/>
                </a:solidFill>
              </a:rPr>
              <a:t>Demonstrated Kafka streaming integration for real-time tweet processing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365760" y="4206240"/>
            <a:ext cx="6858000" cy="502920"/>
          </a:xfrm>
          <a:prstGeom prst="rect">
            <a:avLst/>
          </a:prstGeom>
          <a:solidFill>
            <a:srgbClr val="E8F8F5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270248"/>
            <a:ext cx="320040" cy="32004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14400" y="4206240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1D3A"/>
                </a:solidFill>
              </a:rPr>
              <a:t>Produced WordClouds, sentiment charts, and model performance visualizations</a:t>
            </a:r>
            <a:endParaRPr lang="en-US" sz="1150" dirty="0"/>
          </a:p>
        </p:txBody>
      </p:sp>
      <p:sp>
        <p:nvSpPr>
          <p:cNvPr id="23" name="Shape 15"/>
          <p:cNvSpPr/>
          <p:nvPr/>
        </p:nvSpPr>
        <p:spPr>
          <a:xfrm>
            <a:off x="7406640" y="1143000"/>
            <a:ext cx="1371600" cy="777240"/>
          </a:xfrm>
          <a:prstGeom prst="rect">
            <a:avLst/>
          </a:prstGeom>
          <a:solidFill>
            <a:srgbClr val="0B1D3A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16"/>
          <p:cNvSpPr/>
          <p:nvPr/>
        </p:nvSpPr>
        <p:spPr>
          <a:xfrm>
            <a:off x="7406640" y="12161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FF"/>
                </a:solidFill>
              </a:rPr>
              <a:t>79.89%</a:t>
            </a:r>
            <a:endParaRPr lang="en-US" sz="2000" dirty="0"/>
          </a:p>
        </p:txBody>
      </p:sp>
      <p:sp>
        <p:nvSpPr>
          <p:cNvPr id="25" name="Text 17"/>
          <p:cNvSpPr/>
          <p:nvPr/>
        </p:nvSpPr>
        <p:spPr>
          <a:xfrm>
            <a:off x="7406640" y="16184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9E"/>
                </a:solidFill>
              </a:rPr>
              <a:t>Best Accuracy</a:t>
            </a:r>
            <a:endParaRPr lang="en-US" sz="900" dirty="0"/>
          </a:p>
        </p:txBody>
      </p:sp>
      <p:sp>
        <p:nvSpPr>
          <p:cNvPr id="26" name="Shape 18"/>
          <p:cNvSpPr/>
          <p:nvPr/>
        </p:nvSpPr>
        <p:spPr>
          <a:xfrm>
            <a:off x="7406640" y="2103120"/>
            <a:ext cx="1371600" cy="777240"/>
          </a:xfrm>
          <a:prstGeom prst="rect">
            <a:avLst/>
          </a:prstGeom>
          <a:solidFill>
            <a:srgbClr val="0B1D3A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19"/>
          <p:cNvSpPr/>
          <p:nvPr/>
        </p:nvSpPr>
        <p:spPr>
          <a:xfrm>
            <a:off x="7406640" y="21762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FF"/>
                </a:solidFill>
              </a:rPr>
              <a:t>0.8776</a:t>
            </a:r>
            <a:endParaRPr lang="en-US" sz="2000" dirty="0"/>
          </a:p>
        </p:txBody>
      </p:sp>
      <p:sp>
        <p:nvSpPr>
          <p:cNvPr id="28" name="Text 20"/>
          <p:cNvSpPr/>
          <p:nvPr/>
        </p:nvSpPr>
        <p:spPr>
          <a:xfrm>
            <a:off x="7406640" y="2578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9E"/>
                </a:solidFill>
              </a:rPr>
              <a:t>Best AUC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7406640" y="3063240"/>
            <a:ext cx="1371600" cy="777240"/>
          </a:xfrm>
          <a:prstGeom prst="rect">
            <a:avLst/>
          </a:prstGeom>
          <a:solidFill>
            <a:srgbClr val="0B1D3A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2"/>
          <p:cNvSpPr/>
          <p:nvPr/>
        </p:nvSpPr>
        <p:spPr>
          <a:xfrm>
            <a:off x="7406640" y="31363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FF"/>
                </a:solidFill>
              </a:rPr>
              <a:t>1.6M</a:t>
            </a:r>
            <a:endParaRPr lang="en-US" sz="2000" dirty="0"/>
          </a:p>
        </p:txBody>
      </p:sp>
      <p:sp>
        <p:nvSpPr>
          <p:cNvPr id="31" name="Text 23"/>
          <p:cNvSpPr/>
          <p:nvPr/>
        </p:nvSpPr>
        <p:spPr>
          <a:xfrm>
            <a:off x="7406640" y="3538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9E"/>
                </a:solidFill>
              </a:rPr>
              <a:t>Tweets Processed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7406640" y="4023360"/>
            <a:ext cx="1371600" cy="777240"/>
          </a:xfrm>
          <a:prstGeom prst="rect">
            <a:avLst/>
          </a:prstGeom>
          <a:solidFill>
            <a:srgbClr val="0B1D3A"/>
          </a:solidFill>
          <a:ln w="12700">
            <a:solidFill>
              <a:srgbClr val="D1E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Text 25"/>
          <p:cNvSpPr/>
          <p:nvPr/>
        </p:nvSpPr>
        <p:spPr>
          <a:xfrm>
            <a:off x="7406640" y="40965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FF"/>
                </a:solidFill>
              </a:rPr>
              <a:t>3</a:t>
            </a:r>
            <a:endParaRPr lang="en-US" sz="2000" dirty="0"/>
          </a:p>
        </p:txBody>
      </p:sp>
      <p:sp>
        <p:nvSpPr>
          <p:cNvPr id="34" name="Text 26"/>
          <p:cNvSpPr/>
          <p:nvPr/>
        </p:nvSpPr>
        <p:spPr>
          <a:xfrm>
            <a:off x="7406640" y="44988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9E"/>
                </a:solidFill>
              </a:rPr>
              <a:t>Models Compared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F2A50"/>
          </a:solidFill>
          <a:ln w="12700">
            <a:solidFill>
              <a:srgbClr val="0F2A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457200"/>
            <a:ext cx="1463040" cy="14630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2103120"/>
            <a:ext cx="1463040" cy="146304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3657600"/>
            <a:ext cx="914400" cy="9144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57200" y="7315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You!</a:t>
            </a:r>
            <a:endParaRPr lang="en-US" sz="5200" dirty="0"/>
          </a:p>
        </p:txBody>
      </p:sp>
      <p:sp>
        <p:nvSpPr>
          <p:cNvPr id="9" name="Text 4"/>
          <p:cNvSpPr/>
          <p:nvPr/>
        </p:nvSpPr>
        <p:spPr>
          <a:xfrm>
            <a:off x="457200" y="173736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C8FF"/>
                </a:solidFill>
              </a:rPr>
              <a:t>Questions &amp; Discussion</a:t>
            </a:r>
            <a:endParaRPr lang="en-US" sz="2200" dirty="0"/>
          </a:p>
        </p:txBody>
      </p:sp>
      <p:sp>
        <p:nvSpPr>
          <p:cNvPr id="10" name="Shape 5"/>
          <p:cNvSpPr/>
          <p:nvPr/>
        </p:nvSpPr>
        <p:spPr>
          <a:xfrm>
            <a:off x="457200" y="2331720"/>
            <a:ext cx="457200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57200" y="24688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B7C9E"/>
                </a:solidFill>
              </a:rPr>
              <a:t>Twitter Sentiment Analysis Using Apache Spark, Kafka &amp; Machine Learning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10896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2960" y="309067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Best Accuracy: 79.89% (Logistic Regression)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52044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22960" y="350215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1.6M Tweets | PySpark 3.5 | Google Colab</a:t>
            </a:r>
            <a:endParaRPr lang="en-US" sz="12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931920"/>
            <a:ext cx="274320" cy="27432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22960" y="391363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Kafka Streaming | TF-IDF | SparkML Pipeline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457200" y="461772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C9E"/>
                </a:solidFill>
              </a:rPr>
              <a:t>Muhammad [Your Name]  •  [University Name]  •  [Year]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1741</Words>
  <Application>Microsoft Office PowerPoint</Application>
  <PresentationFormat>On-screen Show (16:9)</PresentationFormat>
  <Paragraphs>422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Twitter Sentiment Analysis FYP</dc:title>
  <dc:subject>PptxGenJS Presentation</dc:subject>
  <dc:creator>FYP Presentation</dc:creator>
  <cp:lastModifiedBy>hellogubru@gmail.com</cp:lastModifiedBy>
  <cp:revision>3</cp:revision>
  <dcterms:created xsi:type="dcterms:W3CDTF">2026-05-28T22:18:13Z</dcterms:created>
  <dcterms:modified xsi:type="dcterms:W3CDTF">2026-05-28T22:29:58Z</dcterms:modified>
</cp:coreProperties>
</file>